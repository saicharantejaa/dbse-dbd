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11.png"/><Relationship Id="rId8" Type="http://schemas.openxmlformats.org/officeDocument/2006/relationships/image" Target="../media/image26.png"/><Relationship Id="rId9" Type="http://schemas.openxmlformats.org/officeDocument/2006/relationships/image" Target="../media/image13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31.png"/><Relationship Id="rId15" Type="http://schemas.openxmlformats.org/officeDocument/2006/relationships/image" Target="../media/image32.png"/><Relationship Id="rId16" Type="http://schemas.openxmlformats.org/officeDocument/2006/relationships/image" Target="../media/image33.png"/><Relationship Id="rId17" Type="http://schemas.openxmlformats.org/officeDocument/2006/relationships/image" Target="../media/image34.png"/><Relationship Id="rId18" Type="http://schemas.openxmlformats.org/officeDocument/2006/relationships/image" Target="../media/image3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9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11.png"/><Relationship Id="rId7" Type="http://schemas.openxmlformats.org/officeDocument/2006/relationships/image" Target="../media/image39.png"/><Relationship Id="rId8" Type="http://schemas.openxmlformats.org/officeDocument/2006/relationships/image" Target="../media/image13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Relationship Id="rId16" Type="http://schemas.openxmlformats.org/officeDocument/2006/relationships/image" Target="../media/image4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48.png"/><Relationship Id="rId6" Type="http://schemas.openxmlformats.org/officeDocument/2006/relationships/image" Target="../media/image13.png"/><Relationship Id="rId7" Type="http://schemas.openxmlformats.org/officeDocument/2006/relationships/image" Target="../media/image4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11.png"/><Relationship Id="rId11" Type="http://schemas.openxmlformats.org/officeDocument/2006/relationships/image" Target="../media/image56.png"/><Relationship Id="rId12" Type="http://schemas.openxmlformats.org/officeDocument/2006/relationships/image" Target="../media/image13.png"/><Relationship Id="rId13" Type="http://schemas.openxmlformats.org/officeDocument/2006/relationships/image" Target="../media/image57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60.png"/><Relationship Id="rId17" Type="http://schemas.openxmlformats.org/officeDocument/2006/relationships/image" Target="../media/image61.png"/><Relationship Id="rId18" Type="http://schemas.openxmlformats.org/officeDocument/2006/relationships/image" Target="../media/image62.png"/><Relationship Id="rId19" Type="http://schemas.openxmlformats.org/officeDocument/2006/relationships/image" Target="../media/image63.png"/><Relationship Id="rId20" Type="http://schemas.openxmlformats.org/officeDocument/2006/relationships/image" Target="../media/image64.png"/><Relationship Id="rId21" Type="http://schemas.openxmlformats.org/officeDocument/2006/relationships/image" Target="../media/image65.png"/><Relationship Id="rId22" Type="http://schemas.openxmlformats.org/officeDocument/2006/relationships/image" Target="../media/image66.png"/><Relationship Id="rId23" Type="http://schemas.openxmlformats.org/officeDocument/2006/relationships/image" Target="../media/image67.png"/><Relationship Id="rId24" Type="http://schemas.openxmlformats.org/officeDocument/2006/relationships/image" Target="../media/image68.png"/><Relationship Id="rId25" Type="http://schemas.openxmlformats.org/officeDocument/2006/relationships/image" Target="../media/image6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9.png"/><Relationship Id="rId4" Type="http://schemas.openxmlformats.org/officeDocument/2006/relationships/image" Target="../media/image71.png"/><Relationship Id="rId5" Type="http://schemas.openxmlformats.org/officeDocument/2006/relationships/image" Target="../media/image11.png"/><Relationship Id="rId6" Type="http://schemas.openxmlformats.org/officeDocument/2006/relationships/image" Target="../media/image72.png"/><Relationship Id="rId7" Type="http://schemas.openxmlformats.org/officeDocument/2006/relationships/image" Target="../media/image13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58.png"/><Relationship Id="rId11" Type="http://schemas.openxmlformats.org/officeDocument/2006/relationships/image" Target="../media/image75.png"/><Relationship Id="rId12" Type="http://schemas.openxmlformats.org/officeDocument/2006/relationships/image" Target="../media/image76.png"/><Relationship Id="rId13" Type="http://schemas.openxmlformats.org/officeDocument/2006/relationships/image" Target="../media/image77.png"/><Relationship Id="rId14" Type="http://schemas.openxmlformats.org/officeDocument/2006/relationships/image" Target="../media/image78.png"/><Relationship Id="rId15" Type="http://schemas.openxmlformats.org/officeDocument/2006/relationships/image" Target="../media/image7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80.png"/><Relationship Id="rId6" Type="http://schemas.openxmlformats.org/officeDocument/2006/relationships/image" Target="../media/image13.png"/><Relationship Id="rId7" Type="http://schemas.openxmlformats.org/officeDocument/2006/relationships/image" Target="../media/image8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9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image" Target="../media/image89.png"/><Relationship Id="rId11" Type="http://schemas.openxmlformats.org/officeDocument/2006/relationships/image" Target="../media/image90.png"/><Relationship Id="rId12" Type="http://schemas.openxmlformats.org/officeDocument/2006/relationships/image" Target="../media/image91.png"/><Relationship Id="rId13" Type="http://schemas.openxmlformats.org/officeDocument/2006/relationships/image" Target="../media/image11.png"/><Relationship Id="rId14" Type="http://schemas.openxmlformats.org/officeDocument/2006/relationships/image" Target="../media/image92.png"/><Relationship Id="rId15" Type="http://schemas.openxmlformats.org/officeDocument/2006/relationships/image" Target="../media/image13.png"/><Relationship Id="rId16" Type="http://schemas.openxmlformats.org/officeDocument/2006/relationships/image" Target="../media/image93.png"/><Relationship Id="rId17" Type="http://schemas.openxmlformats.org/officeDocument/2006/relationships/image" Target="../media/image94.png"/><Relationship Id="rId18" Type="http://schemas.openxmlformats.org/officeDocument/2006/relationships/image" Target="../media/image95.png"/><Relationship Id="rId19" Type="http://schemas.openxmlformats.org/officeDocument/2006/relationships/image" Target="../media/image9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11.png"/><Relationship Id="rId7" Type="http://schemas.openxmlformats.org/officeDocument/2006/relationships/image" Target="../media/image99.png"/><Relationship Id="rId8" Type="http://schemas.openxmlformats.org/officeDocument/2006/relationships/image" Target="../media/image13.png"/><Relationship Id="rId9" Type="http://schemas.openxmlformats.org/officeDocument/2006/relationships/image" Target="../media/image100.png"/><Relationship Id="rId10" Type="http://schemas.openxmlformats.org/officeDocument/2006/relationships/image" Target="../media/image101.png"/><Relationship Id="rId11" Type="http://schemas.openxmlformats.org/officeDocument/2006/relationships/image" Target="../media/image102.png"/><Relationship Id="rId12" Type="http://schemas.openxmlformats.org/officeDocument/2006/relationships/image" Target="../media/image103.png"/><Relationship Id="rId13" Type="http://schemas.openxmlformats.org/officeDocument/2006/relationships/image" Target="../media/image104.png"/><Relationship Id="rId14" Type="http://schemas.openxmlformats.org/officeDocument/2006/relationships/image" Target="../media/image79.png"/><Relationship Id="rId15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589883"/>
            <a:ext cx="10668000" cy="857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751933"/>
            <a:ext cx="106680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90950" y="1801117"/>
            <a:ext cx="7639050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 SemiBold"/>
              </a:rPr>
              <a:t> Dept. of CS&amp;IT and AIDS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801117"/>
            <a:ext cx="3028950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382142"/>
            <a:ext cx="11201400" cy="50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0" sz="3600" i="0" u="none">
                <a:solidFill>
                  <a:srgbClr val="FFFFFF"/>
                </a:solidFill>
                <a:latin typeface="Plus Jakarta Sans ExtraBold"/>
              </a:rPr>
              <a:t>Learning Platform with </a:t>
            </a:r>
            <a:r>
              <a:rPr b="0" sz="3600" i="0" u="none">
                <a:solidFill>
                  <a:srgbClr val="FFFFFF"/>
                </a:solidFill>
                <a:latin typeface="Plus Jakarta Sans ExtraBold"/>
              </a:rPr>
              <a:t>AI Doubt Solver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18383"/>
            <a:ext cx="9048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 Medium"/>
              </a:rPr>
              <a:t>A Distributed, AI-Powered Educational Platform for Real-Time, Context-Aware Doubt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913858"/>
            <a:ext cx="1133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 SemiBold"/>
              </a:rPr>
              <a:t>Section 10  |  Team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4913858"/>
            <a:ext cx="1600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 SemiBold"/>
              </a:rPr>
              <a:t>Y25 · 2026–2027 · Trimester 4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1882080"/>
            <a:ext cx="157162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38225" y="3828008"/>
            <a:ext cx="5392787" cy="123825"/>
          </a:xfrm>
          <a:prstGeom prst="rect">
            <a:avLst/>
          </a:prstGeom>
          <a:noFill/>
        </p:spPr>
        <p:txBody>
          <a:bodyPr wrap="square" lIns="144809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38BDF8"/>
                </a:solidFill>
                <a:latin typeface="Plus Jakarta Sans"/>
              </a:rPr>
              <a:t>TEAM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028033"/>
            <a:ext cx="539278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1F5F9"/>
                </a:solidFill>
                <a:latin typeface="Plus Jakarta Sans SemiBold"/>
              </a:rPr>
              <a:t>S. Sai Kaushik  •  Ch. Ganesh  •  A. Sai Charan Teja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612" y="3828008"/>
            <a:ext cx="4494162" cy="123825"/>
          </a:xfrm>
          <a:prstGeom prst="rect">
            <a:avLst/>
          </a:prstGeom>
          <a:noFill/>
        </p:spPr>
        <p:txBody>
          <a:bodyPr wrap="square" lIns="106709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38BDF8"/>
                </a:solidFill>
                <a:latin typeface="Plus Jakarta Sans"/>
              </a:rPr>
              <a:t>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9612" y="4028033"/>
            <a:ext cx="449416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1F5F9"/>
                </a:solidFill>
                <a:latin typeface="Plus Jakarta Sans SemiBold"/>
              </a:rPr>
              <a:t>Database Systems Engineering &amp; Distributed Backend Dev.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" y="3847058"/>
            <a:ext cx="144809" cy="1047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9612" y="3847058"/>
            <a:ext cx="106709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13508"/>
            <a:ext cx="5467350" cy="1514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113508"/>
            <a:ext cx="5467350" cy="1514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818483"/>
            <a:ext cx="5467350" cy="1514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3818483"/>
            <a:ext cx="5467350" cy="15144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Slide 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19100"/>
            <a:ext cx="1757362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95325"/>
            <a:ext cx="1845230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Abstract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476250"/>
            <a:ext cx="128587" cy="10477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3425" y="2865983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575" y="2808833"/>
            <a:ext cx="4953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A real-time, AI-powered doubt-solving assistant built on a distributed microservices architecture, combining relational, document, and vector databases for scalable, context-aware tutoring.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1275" y="2865983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8425" y="2808833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Traditional online learning environments suffer from delayed feedback, leaving students blocked on complex topics without instant, context-aware support.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425" y="4570958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575" y="4513808"/>
            <a:ext cx="4953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Semantic search over course content (via pgvector) surfaces relevant material instantly, so students get accurate, tutor-like answers without waiting on instructors.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91275" y="4570958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8425" y="4513808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A containerized, cohesive platform delivering instant AI-tutored responses, backed by structured (PostgreSQL) and flexible (MongoDB) course data.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332583"/>
            <a:ext cx="38100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85875" y="2418308"/>
            <a:ext cx="1457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What the Project Is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2332583"/>
            <a:ext cx="381000" cy="381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43725" y="2418308"/>
            <a:ext cx="13049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Why It Is Needed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4037558"/>
            <a:ext cx="381000" cy="381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85875" y="4123283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How It Helps Students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8425" y="4037558"/>
            <a:ext cx="381000" cy="381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3725" y="4123283"/>
            <a:ext cx="1971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Expected System Output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5825" y="2437358"/>
            <a:ext cx="19050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2437358"/>
            <a:ext cx="171450" cy="171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4875" y="4142333"/>
            <a:ext cx="152400" cy="171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4142333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213520"/>
            <a:ext cx="5467350" cy="1314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213520"/>
            <a:ext cx="5467350" cy="1314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718470"/>
            <a:ext cx="5467350" cy="1514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718470"/>
            <a:ext cx="5467350" cy="15144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Slide 3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19100"/>
            <a:ext cx="1662112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95325"/>
            <a:ext cx="5260657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Introduction &amp; Problem Statement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476250"/>
            <a:ext cx="119062" cy="10477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3425" y="2865983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575" y="2908845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Large online cohorts generate thousands of doubts that instructors cannot realistically answer in real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1275" y="2865983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8425" y="2908845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Students wait hours or days for a response, breaking learning momentum and increasing drop-off on hard topics.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425" y="4470945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575" y="4413795"/>
            <a:ext cx="4953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Course material is scattered across text, slides, and notes, making it hard to search with simple keyword filters.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91275" y="4470945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8425" y="4413795"/>
            <a:ext cx="4953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2E8F0"/>
                </a:solidFill>
                <a:latin typeface="Plus Jakarta Sans"/>
              </a:rPr>
              <a:t>Polyglot microservices (FastAPI + Spring Boot), paired with relational, document, and vector databases, resolve doubts instantly by matching queries to relevant material.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2432595"/>
            <a:ext cx="38100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85875" y="2518320"/>
            <a:ext cx="14954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High Doubt Volume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8425" y="2432595"/>
            <a:ext cx="381000" cy="381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43725" y="2518320"/>
            <a:ext cx="14573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Delayed Feedback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75" y="3937545"/>
            <a:ext cx="381000" cy="381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85875" y="4023270"/>
            <a:ext cx="17049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Unstructured Content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8425" y="3937545"/>
            <a:ext cx="381000" cy="381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3725" y="4023270"/>
            <a:ext cx="2552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8BDF8"/>
                </a:solidFill>
                <a:latin typeface="Plus Jakarta Sans"/>
              </a:rPr>
              <a:t>Distributed Architecture Solution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1537" y="2537370"/>
            <a:ext cx="219075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2250" y="2537370"/>
            <a:ext cx="133350" cy="171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" y="4042320"/>
            <a:ext cx="133350" cy="171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72250" y="4042320"/>
            <a:ext cx="1333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288827"/>
            <a:ext cx="5467350" cy="20877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288827"/>
            <a:ext cx="5467350" cy="20877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Slide 4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19100"/>
            <a:ext cx="1447800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95325"/>
            <a:ext cx="4445555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Existing System &amp; Limitations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4824263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5375" y="4833788"/>
            <a:ext cx="8782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Plus Jakarta Sans Black"/>
              </a:rPr>
              <a:t>Takeaway:</a:t>
            </a:r>
            <a:r>
              <a:rPr b="0" sz="1050" i="0" u="none">
                <a:solidFill>
                  <a:srgbClr val="E2E8F0"/>
                </a:solidFill>
                <a:latin typeface="Plus Jakarta Sans SemiBold"/>
              </a:rPr>
              <a:t> Existing systems depend on manual triage or rigid keyword search — a structured, semantic, and distributed approach is needed.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476250"/>
            <a:ext cx="119062" cy="10477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3425" y="3327945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1275" y="3327945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2507902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85875" y="2593627"/>
            <a:ext cx="20764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Current Learning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" y="3041302"/>
            <a:ext cx="4762500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Students post questions in forums and wait for instructor office hours.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" y="3348930"/>
            <a:ext cx="4762500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Search relies on exact keyword presence, missing paraphrased doubts.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075" y="3656558"/>
            <a:ext cx="4762500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Feedback quality varies by instructor availability and workload.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075" y="3964185"/>
            <a:ext cx="4762500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No automated way to link a doubt to the exact course material.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8425" y="2507902"/>
            <a:ext cx="38100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43725" y="2593627"/>
            <a:ext cx="15049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B7185"/>
                </a:solidFill>
                <a:latin typeface="Plus Jakarta Sans"/>
              </a:rPr>
              <a:t>Major Inefficiencies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7975" y="3041302"/>
            <a:ext cx="4743450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Time-Consuming: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Hours to days spent waiting per doubt raised.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7975" y="3348930"/>
            <a:ext cx="4743450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High Disengagement: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Students stall and lose momentum when blocked.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7975" y="3656558"/>
            <a:ext cx="4743450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Poor Scalability: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Response quality drops as enrolment grows.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7975" y="3964185"/>
            <a:ext cx="4743450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Lack of Structure: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Learning content stays trapped in unstructured files.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5825" y="2612677"/>
            <a:ext cx="19050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2612677"/>
            <a:ext cx="17145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" y="3065115"/>
            <a:ext cx="7620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" y="3372742"/>
            <a:ext cx="76200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" y="3680370"/>
            <a:ext cx="76200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" y="3987998"/>
            <a:ext cx="76200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8425" y="3065115"/>
            <a:ext cx="9525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8425" y="3372742"/>
            <a:ext cx="95250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8425" y="3680370"/>
            <a:ext cx="95250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8425" y="3987998"/>
            <a:ext cx="952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2347763"/>
            <a:ext cx="11125200" cy="2750939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2347763"/>
          <a:ext cx="11106148" cy="2750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109614"/>
                <a:gridCol w="3553866"/>
                <a:gridCol w="4442668"/>
              </a:tblGrid>
              <a:tr h="45848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Approach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Technique Used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Limitation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Rule-based FAQ Chatbots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Keyword &amp; intent matching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87171"/>
                          </a:solidFill>
                          <a:latin typeface="Plus Jakarta Sans"/>
                        </a:rPr>
                        <a:t>Fails on paraphrased or novel doubts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Forum-based Q&amp;A Platforms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Manual moderation &amp; tagging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87171"/>
                          </a:solidFill>
                          <a:latin typeface="Plus Jakarta Sans"/>
                        </a:rPr>
                        <a:t>Slow response, inconsistent quality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Keyword Search over Course Notes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Inverted index / exact match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87171"/>
                          </a:solidFill>
                          <a:latin typeface="Plus Jakarta Sans"/>
                        </a:rPr>
                        <a:t>Misses semantically similar content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Single-Database LMS Backends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Monolithic relational schema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87171"/>
                          </a:solidFill>
                          <a:latin typeface="Plus Jakarta Sans"/>
                        </a:rPr>
                        <a:t>Struggles with unstructured content &amp; scale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494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Retrieval-Augmented Generation (RAG)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Vector embeddings + LLM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FBBF24"/>
                          </a:solidFill>
                          <a:latin typeface="Plus Jakarta Sans"/>
                        </a:rPr>
                        <a:t>High compute cost without optimized indexing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Slide 5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19100"/>
            <a:ext cx="1414462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95325"/>
            <a:ext cx="2615326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Literature Survey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2925" y="2776388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2539" y="2776388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6406" y="2776388"/>
            <a:ext cx="444266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476250"/>
            <a:ext cx="109537" cy="1047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2925" y="3238946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2539" y="3238946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06406" y="3238946"/>
            <a:ext cx="444266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2925" y="3701504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2539" y="3701504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06406" y="3701504"/>
            <a:ext cx="444266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2925" y="4164062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2539" y="4164062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06406" y="4164062"/>
            <a:ext cx="444266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2925" y="4626619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2539" y="4626619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06406" y="4626619"/>
            <a:ext cx="444266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223045"/>
            <a:ext cx="3594050" cy="1514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8900" y="2223045"/>
            <a:ext cx="3594050" cy="1514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2223045"/>
            <a:ext cx="3594199" cy="1514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908970"/>
            <a:ext cx="3594050" cy="1314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8900" y="3908970"/>
            <a:ext cx="3594050" cy="1314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400" y="3908970"/>
            <a:ext cx="3594199" cy="1314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Slide 6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419100"/>
            <a:ext cx="2238375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695325"/>
            <a:ext cx="2725340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Proposed System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" y="476250"/>
            <a:ext cx="147637" cy="10477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33425" y="2975520"/>
            <a:ext cx="3193999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575" y="2918370"/>
            <a:ext cx="3079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Course content is structured into PostgreSQL and flexible course assets into MongoDB.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8925" y="2975520"/>
            <a:ext cx="3193999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6075" y="2918370"/>
            <a:ext cx="3079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Student submits a doubt through the UI; FastAPI handles the request asynchronously.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4424" y="2975520"/>
            <a:ext cx="3194151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575" y="2918370"/>
            <a:ext cx="307984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pgvector performs similarity search over embedded course material to find relevant context.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425" y="4561433"/>
            <a:ext cx="3193999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575" y="4604295"/>
            <a:ext cx="3079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The retrieved context powers an instant, context-aware answer for the student.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98925" y="4561433"/>
            <a:ext cx="3193999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6075" y="4604295"/>
            <a:ext cx="3079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Spring Boot manages secure enterprise logic, sessions, and cross-service coordination.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4424" y="4561433"/>
            <a:ext cx="3194151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575" y="4604295"/>
            <a:ext cx="30798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The full distributed stack is containerized with Docker for cohesive, scalable delivery.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2442120"/>
            <a:ext cx="381000" cy="381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85875" y="2527845"/>
            <a:ext cx="12954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1. Data Ingestion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56075" y="2442120"/>
            <a:ext cx="381000" cy="381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51375" y="2527845"/>
            <a:ext cx="13430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2. Doubt Capture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1575" y="2442120"/>
            <a:ext cx="381000" cy="381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16875" y="2527845"/>
            <a:ext cx="14954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3. Semantic Search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575" y="4128045"/>
            <a:ext cx="381000" cy="381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85875" y="4213770"/>
            <a:ext cx="14954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4. AI Response Gen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56075" y="4128045"/>
            <a:ext cx="381000" cy="381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51375" y="4213770"/>
            <a:ext cx="18859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5. Service Orchestration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21575" y="4128045"/>
            <a:ext cx="381000" cy="381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16875" y="4213770"/>
            <a:ext cx="19716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6. Deployment &amp; Delivery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4875" y="2546895"/>
            <a:ext cx="152400" cy="1714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60850" y="2546895"/>
            <a:ext cx="171450" cy="1714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26350" y="2546895"/>
            <a:ext cx="171450" cy="1714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1537" y="4232820"/>
            <a:ext cx="219075" cy="1714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60850" y="4232820"/>
            <a:ext cx="171450" cy="1714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26350" y="4232820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44613"/>
            <a:ext cx="5467350" cy="237633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144613"/>
            <a:ext cx="5467350" cy="237633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5225" y="6315075"/>
            <a:ext cx="3333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Slide 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19100"/>
            <a:ext cx="1262062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95325"/>
            <a:ext cx="3625453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Software Requirements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4968626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5375" y="4978151"/>
            <a:ext cx="9829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BD5E1"/>
                </a:solidFill>
                <a:latin typeface="Plus Jakarta Sans"/>
              </a:rPr>
              <a:t>Design Note:</a:t>
            </a:r>
            <a:r>
              <a:rPr b="0" sz="1050" i="0" u="none">
                <a:solidFill>
                  <a:srgbClr val="CBD5E1"/>
                </a:solidFill>
                <a:latin typeface="Plus Jakarta Sans Medium"/>
              </a:rPr>
              <a:t> The stack is lightweight and standard, enabling easy setup, execution, and testing across academic environments without specialized hardware.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" y="476250"/>
            <a:ext cx="147637" cy="10477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3425" y="3328020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1275" y="3328020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2363688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85875" y="2449413"/>
            <a:ext cx="27813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Programming Languages &amp;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650" y="2878038"/>
            <a:ext cx="4733925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FastAPI (Python)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— rapid, asynchronous REST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3185666"/>
            <a:ext cx="4733925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Spring Boot (Java)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— secure enterprise service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50" y="3493293"/>
            <a:ext cx="4733925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Node.js / Express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— supporting backend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650" y="3800921"/>
            <a:ext cx="4733925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Data Formats: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JSON for API payloads, SQL schemas for PostgreSQL, BSON documents for MongoDB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2363688"/>
            <a:ext cx="38100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43725" y="2449413"/>
            <a:ext cx="26765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Development Environment &amp;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0" y="2878038"/>
            <a:ext cx="4733925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IDE: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Visual Studio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0" y="3185666"/>
            <a:ext cx="4733925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Operating System: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Windows 10 /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0" y="3493293"/>
            <a:ext cx="4733925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Version Control: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Git &amp; GitHub for collaboration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500" y="3800921"/>
            <a:ext cx="4733925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Deployment: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Docker Desktop for containerization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500" y="4108549"/>
            <a:ext cx="4733925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Databases &amp; API Testing: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PostgreSQL, MongoDB, pgvector, Postman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4875" y="2468463"/>
            <a:ext cx="15240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2468463"/>
            <a:ext cx="17145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2901850"/>
            <a:ext cx="104775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209478"/>
            <a:ext cx="104775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517106"/>
            <a:ext cx="104775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824733"/>
            <a:ext cx="104775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2901850"/>
            <a:ext cx="104775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209478"/>
            <a:ext cx="104775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517106"/>
            <a:ext cx="104775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824733"/>
            <a:ext cx="104775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4132361"/>
            <a:ext cx="10477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2347763"/>
            <a:ext cx="11125200" cy="2750939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2347763"/>
          <a:ext cx="11106148" cy="2750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21110"/>
                <a:gridCol w="3553866"/>
                <a:gridCol w="5331172"/>
              </a:tblGrid>
              <a:tr h="458489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Component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Minimum Requirement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Purpose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Processor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Intel i5 / AMD Ryzen 5 (or equivalent)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Runs containerized microservices smoothly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8 GB (16 GB recommended)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Supports multiple concurrent Docker containers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Storage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 GB free SSD space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Databases, embeddings index, and container images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Network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Stable broadband connection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Client-server API communication and testing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494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GPU (Optional)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Entry-level dedicated GPU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Accelerates embedding generation for pgvector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Slide 8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19100"/>
            <a:ext cx="1476375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95325"/>
            <a:ext cx="3695461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Hardware Requirements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2925" y="2776388"/>
            <a:ext cx="22211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64035" y="2776388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17902" y="2776388"/>
            <a:ext cx="53311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476250"/>
            <a:ext cx="119062" cy="1047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2925" y="3238946"/>
            <a:ext cx="22211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64035" y="3238946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17902" y="3238946"/>
            <a:ext cx="53311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2925" y="3701504"/>
            <a:ext cx="22211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64035" y="3701504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7902" y="3701504"/>
            <a:ext cx="53311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2925" y="4164062"/>
            <a:ext cx="22211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64035" y="4164062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17902" y="4164062"/>
            <a:ext cx="53311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2925" y="4626619"/>
            <a:ext cx="22211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64035" y="4626619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7902" y="4626619"/>
            <a:ext cx="53311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596604"/>
            <a:ext cx="1958280" cy="139600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055" y="2596604"/>
            <a:ext cx="1958280" cy="139600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6710" y="2596604"/>
            <a:ext cx="1958280" cy="139600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8366" y="2596604"/>
            <a:ext cx="1958280" cy="139600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0021" y="2596604"/>
            <a:ext cx="1958280" cy="139600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1090" y="2796629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2745" y="2796629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4401" y="2796629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6056" y="2796629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07712" y="2796629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Slide 9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419100"/>
            <a:ext cx="2257425" cy="2190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" y="695325"/>
            <a:ext cx="3300412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System Methodology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525" y="4630787"/>
            <a:ext cx="190500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5375" y="4554587"/>
            <a:ext cx="103251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Plus Jakarta Sans Black"/>
              </a:rPr>
              <a:t>Process Summary:</a:t>
            </a:r>
            <a:r>
              <a:rPr b="0" sz="1050" i="0" u="none">
                <a:solidFill>
                  <a:srgbClr val="E2E8F0"/>
                </a:solidFill>
                <a:latin typeface="Plus Jakarta Sans SemiBold"/>
              </a:rPr>
              <a:t> The pipeline ingests structured and unstructured course content, indexes it for semantic retrieval, generates a context-aware AI response, and delivers it instantly through the containerized microservice stack.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7225" y="476250"/>
            <a:ext cx="119062" cy="1047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5325" y="3272879"/>
            <a:ext cx="163443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1" sz="1050" i="0" u="none">
                <a:solidFill>
                  <a:srgbClr val="F8FAFC"/>
                </a:solidFill>
                <a:latin typeface="Plus Jakarta Sans"/>
              </a:rPr>
              <a:t>Structured &amp; Unstructured Ingestion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05980" y="3208883"/>
            <a:ext cx="104775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986980" y="3272879"/>
            <a:ext cx="163443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1" sz="1050" i="0" u="none">
                <a:solidFill>
                  <a:srgbClr val="F8FAFC"/>
                </a:solidFill>
                <a:latin typeface="Plus Jakarta Sans"/>
              </a:rPr>
              <a:t>Vector Semantic Search (pgvector)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97635" y="3208883"/>
            <a:ext cx="104775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78635" y="3272879"/>
            <a:ext cx="163443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1" sz="1050" i="0" u="none">
                <a:solidFill>
                  <a:srgbClr val="F8FAFC"/>
                </a:solidFill>
                <a:latin typeface="Plus Jakarta Sans"/>
              </a:rPr>
              <a:t>Context-Aware AI Response Gen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89291" y="3208883"/>
            <a:ext cx="104775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570291" y="3272879"/>
            <a:ext cx="163443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1" sz="1050" i="0" u="none">
                <a:solidFill>
                  <a:srgbClr val="F8FAFC"/>
                </a:solidFill>
                <a:latin typeface="Plus Jakarta Sans"/>
              </a:rPr>
              <a:t>Microservice Orchestration (FastAPI + Spring)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80946" y="3208883"/>
            <a:ext cx="104775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61946" y="3272879"/>
            <a:ext cx="163443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1" sz="1050" i="0" u="none">
                <a:solidFill>
                  <a:srgbClr val="F8FAFC"/>
                </a:solidFill>
                <a:latin typeface="Plus Jakarta Sans"/>
              </a:rPr>
              <a:t>Instant Delivery to Student (Docker)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880967"/>
            <a:ext cx="11125200" cy="504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060823"/>
            <a:ext cx="5467350" cy="266774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060823"/>
            <a:ext cx="5467350" cy="266774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68075" y="6315075"/>
            <a:ext cx="3905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Plus Jakarta Sans Medium"/>
              </a:rPr>
              <a:t>Slide 10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19100"/>
            <a:ext cx="11334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95325"/>
            <a:ext cx="5115639" cy="350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b="0" sz="2400" i="0" u="none">
                <a:solidFill>
                  <a:srgbClr val="FFFFFF"/>
                </a:solidFill>
                <a:latin typeface="Plus Jakarta Sans ExtraBold"/>
              </a:rPr>
              <a:t>Expected Outcome &amp; Conclusion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" y="476250"/>
            <a:ext cx="109537" cy="1047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3425" y="3389932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1275" y="3389932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2279898"/>
            <a:ext cx="381000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5875" y="2365623"/>
            <a:ext cx="22002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Expected Project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" y="2813298"/>
            <a:ext cx="4733925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Faster Doubt Resolution: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Instant, AI-generated answers instead of hours-long waits.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650" y="3314253"/>
            <a:ext cx="4733925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Improved Learning Continuity: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Students stay unblocked and engaged.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3621881"/>
            <a:ext cx="4733925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Scalable Support: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Microservices scale gracefully with cohort size.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50" y="3929508"/>
            <a:ext cx="4733925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Practical Distributed Systems Application: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Real-world use of polyglot backends and vector search.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2279898"/>
            <a:ext cx="381000" cy="381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43725" y="2365623"/>
            <a:ext cx="10382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1F5F9"/>
                </a:solidFill>
                <a:latin typeface="Plus Jakarta Sans"/>
              </a:rPr>
              <a:t>Future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6550" y="2813298"/>
            <a:ext cx="4714875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Fine-Tuned Domain LLM: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A model tuned specifically on institutional course content.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3314253"/>
            <a:ext cx="4714875" cy="193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Multi-Language Support: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Doubt resolution across regional languages.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6550" y="3621881"/>
            <a:ext cx="4714875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Learning Analytics Dashboard: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Surface common doubt patterns to instructors.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6550" y="4122836"/>
            <a:ext cx="4714875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CBD5E1"/>
                </a:solidFill>
                <a:latin typeface="Plus Jakarta Sans"/>
              </a:rPr>
              <a:t>LMS Integration:</a:t>
            </a:r>
            <a:r>
              <a:rPr b="0" sz="1050" i="0" u="none">
                <a:solidFill>
                  <a:srgbClr val="CBD5E1"/>
                </a:solidFill>
                <a:latin typeface="Plus Jakarta Sans"/>
              </a:rPr>
              <a:t> Seamlessly plug into existing learning management systems.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350" y="2384673"/>
            <a:ext cx="17145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2384673"/>
            <a:ext cx="17145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2837110"/>
            <a:ext cx="104775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338066"/>
            <a:ext cx="104775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645693"/>
            <a:ext cx="104775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953321"/>
            <a:ext cx="104775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2837110"/>
            <a:ext cx="123825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338066"/>
            <a:ext cx="123825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645693"/>
            <a:ext cx="123825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4146649"/>
            <a:ext cx="123825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