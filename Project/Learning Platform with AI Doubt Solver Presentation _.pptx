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13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2.png"/><Relationship Id="rId3" Type="http://schemas.openxmlformats.org/officeDocument/2006/relationships/image" Target="../media/image9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9.png"/><Relationship Id="rId21" Type="http://schemas.openxmlformats.org/officeDocument/2006/relationships/image" Target="../media/image61.png"/><Relationship Id="rId7" Type="http://schemas.openxmlformats.org/officeDocument/2006/relationships/image" Target="../media/image49.png"/><Relationship Id="rId12" Type="http://schemas.openxmlformats.org/officeDocument/2006/relationships/image" Target="../media/image13.png"/><Relationship Id="rId17" Type="http://schemas.openxmlformats.org/officeDocument/2006/relationships/image" Target="../media/image57.png"/><Relationship Id="rId2" Type="http://schemas.openxmlformats.org/officeDocument/2006/relationships/image" Target="../media/image8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24" Type="http://schemas.openxmlformats.org/officeDocument/2006/relationships/image" Target="../media/image64.png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11.png"/><Relationship Id="rId19" Type="http://schemas.openxmlformats.org/officeDocument/2006/relationships/image" Target="../media/image59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1.png"/><Relationship Id="rId5" Type="http://schemas.openxmlformats.org/officeDocument/2006/relationships/image" Target="../media/image11.png"/><Relationship Id="rId10" Type="http://schemas.openxmlformats.org/officeDocument/2006/relationships/image" Target="../media/image70.png"/><Relationship Id="rId4" Type="http://schemas.openxmlformats.org/officeDocument/2006/relationships/image" Target="../media/image67.png"/><Relationship Id="rId9" Type="http://schemas.openxmlformats.org/officeDocument/2006/relationships/image" Target="../media/image53.png"/><Relationship Id="rId14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7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1.png"/><Relationship Id="rId18" Type="http://schemas.openxmlformats.org/officeDocument/2006/relationships/image" Target="../media/image89.png"/><Relationship Id="rId3" Type="http://schemas.openxmlformats.org/officeDocument/2006/relationships/image" Target="../media/image9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88.png"/><Relationship Id="rId2" Type="http://schemas.openxmlformats.org/officeDocument/2006/relationships/image" Target="../media/image76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13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97.png"/><Relationship Id="rId3" Type="http://schemas.openxmlformats.org/officeDocument/2006/relationships/image" Target="../media/image9.png"/><Relationship Id="rId7" Type="http://schemas.openxmlformats.org/officeDocument/2006/relationships/image" Target="../media/image92.png"/><Relationship Id="rId12" Type="http://schemas.openxmlformats.org/officeDocument/2006/relationships/image" Target="../media/image9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5.png"/><Relationship Id="rId5" Type="http://schemas.openxmlformats.org/officeDocument/2006/relationships/image" Target="../media/image91.png"/><Relationship Id="rId15" Type="http://schemas.openxmlformats.org/officeDocument/2006/relationships/image" Target="../media/image98.png"/><Relationship Id="rId10" Type="http://schemas.openxmlformats.org/officeDocument/2006/relationships/image" Target="../media/image94.png"/><Relationship Id="rId4" Type="http://schemas.openxmlformats.org/officeDocument/2006/relationships/image" Target="../media/image90.png"/><Relationship Id="rId9" Type="http://schemas.openxmlformats.org/officeDocument/2006/relationships/image" Target="../media/image93.png"/><Relationship Id="rId1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89883"/>
            <a:ext cx="106680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51933"/>
            <a:ext cx="10668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0950" y="1801117"/>
            <a:ext cx="76390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 SemiBold"/>
              </a:rPr>
              <a:t> Dept. of CS&amp;IT and AIDS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1117"/>
            <a:ext cx="302895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382142"/>
            <a:ext cx="1120140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FFFFFF"/>
                </a:solidFill>
                <a:latin typeface="Plus Jakarta Sans ExtraBold"/>
              </a:rPr>
              <a:t>Learning Platform with AI Doubt 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18383"/>
            <a:ext cx="9048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 Medium"/>
              </a:rPr>
              <a:t>A Distributed, AI-Powered Educational Platform for Real-Time, Context-Aware Doubt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13858"/>
            <a:ext cx="1133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SemiBold"/>
              </a:rPr>
              <a:t>Section 10  | 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4913858"/>
            <a:ext cx="1600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SemiBold"/>
              </a:rPr>
              <a:t>Y25 · 2026–2027 · Trimester 4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1882080"/>
            <a:ext cx="157162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225" y="3828008"/>
            <a:ext cx="5392787" cy="123825"/>
          </a:xfrm>
          <a:prstGeom prst="rect">
            <a:avLst/>
          </a:prstGeom>
          <a:noFill/>
        </p:spPr>
        <p:txBody>
          <a:bodyPr wrap="square" lIns="144809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028033"/>
            <a:ext cx="53927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 SemiBold"/>
              </a:rPr>
              <a:t>S. Sai Kaushik  •  Ch. Ganesh  •  A. Sai Charan Teja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12" y="3828008"/>
            <a:ext cx="4494162" cy="123825"/>
          </a:xfrm>
          <a:prstGeom prst="rect">
            <a:avLst/>
          </a:prstGeom>
          <a:noFill/>
        </p:spPr>
        <p:txBody>
          <a:bodyPr wrap="square" lIns="106709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612" y="4028033"/>
            <a:ext cx="44941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 SemiBold"/>
              </a:rPr>
              <a:t>Database Systems Engineering &amp; Distributed Backend Dev.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847058"/>
            <a:ext cx="144809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9612" y="3847058"/>
            <a:ext cx="106709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13508"/>
            <a:ext cx="54673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13508"/>
            <a:ext cx="54673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18483"/>
            <a:ext cx="5467350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818483"/>
            <a:ext cx="5467350" cy="1514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100"/>
            <a:ext cx="175736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95325"/>
            <a:ext cx="1845230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Abstract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575" y="2808833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 real-time, AI-powered doubt-solving assistant built on a distributed microservices architecture, combining relational, document, and vector databases for scalable, context-aware tutoring.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8425" y="2808833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Traditional online learning environments suffer from delayed feedback, leaving students blocked on complex topics without instant, context-aware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25" y="4570958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575" y="4513808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Semantic search over course content (via pgvector) surfaces relevant material instantly, so students get accurate, tutor-like answers without waiting on instructors.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275" y="4570958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8425" y="4513808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 containerized, cohesive platform delivering instant AI-tutored responses, backed by structured (PostgreSQL) and flexible (MongoDB) course data.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575" y="2332583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5875" y="2418308"/>
            <a:ext cx="1457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What the Project Is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332583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3725" y="2418308"/>
            <a:ext cx="13049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Why It Is Needed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4037558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75" y="4123283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How It Helps Students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4037558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3725" y="4123283"/>
            <a:ext cx="1971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Expected System Output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825" y="2437358"/>
            <a:ext cx="1905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437358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" y="4142333"/>
            <a:ext cx="15240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4142333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13520"/>
            <a:ext cx="546735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13520"/>
            <a:ext cx="546735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718470"/>
            <a:ext cx="5467350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718470"/>
            <a:ext cx="5467350" cy="1514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3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19100"/>
            <a:ext cx="166211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95325"/>
            <a:ext cx="5260657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Introduction &amp; Problem Statement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575" y="2908845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Large online cohorts generate thousands of doubts that instructors cannot realistically answer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8425" y="2908845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Students wait hours or days for a response, breaking learning momentum and increasing drop-off on hard topics.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25" y="4470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575" y="4413795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Course material is scattered across text, slides, and notes, making it hard to search with simple keyword filters.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275" y="4470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8425" y="4413795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Polyglot microservices (FastAPI + Spring Boot), paired with relational, document, and vector databases, resolve doubts instantly by matching queries to relevant material.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432595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5875" y="2518320"/>
            <a:ext cx="1495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High Doubt Volume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432595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3725" y="2518320"/>
            <a:ext cx="1457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Delayed Feedback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3937545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75" y="4023270"/>
            <a:ext cx="1704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Unstructured Content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8425" y="3937545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3725" y="4023270"/>
            <a:ext cx="2552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lus Jakarta Sans"/>
              </a:rPr>
              <a:t>Distributed Architecture Solution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537" y="2537370"/>
            <a:ext cx="2190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2537370"/>
            <a:ext cx="1333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4042320"/>
            <a:ext cx="1333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0" y="4042320"/>
            <a:ext cx="1333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88827"/>
            <a:ext cx="5467350" cy="20877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288827"/>
            <a:ext cx="5467350" cy="20877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9100"/>
            <a:ext cx="144780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4445555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Existing System &amp; Limitations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824263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4833788"/>
            <a:ext cx="878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 Black"/>
              </a:rPr>
              <a:t>Takeaway:</a:t>
            </a:r>
            <a:r>
              <a:rPr sz="1050" b="0" i="0" u="none">
                <a:solidFill>
                  <a:srgbClr val="E2E8F0"/>
                </a:solidFill>
                <a:latin typeface="Plus Jakarta Sans SemiBold"/>
              </a:rPr>
              <a:t> Existing systems depend on manual triage or rigid keyword search — a structured, semantic, and distributed approach is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425" y="3327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91275" y="3327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507902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5875" y="2593627"/>
            <a:ext cx="2076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Current Learning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041302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Students post questions in forums and wait for instructor office hours.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3348930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Search relies on exact keyword presence, missing paraphrased doubts.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3656558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Feedback quality varies by instructor availability and workload.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" y="3964185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No automated way to link a doubt to the exact course material.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507902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3725" y="2593627"/>
            <a:ext cx="1504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B7185"/>
                </a:solidFill>
                <a:latin typeface="Plus Jakarta Sans"/>
              </a:rPr>
              <a:t>Major Inefficiencies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7975" y="3041302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Time-Consuming: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Hours to days spent waiting per doubt raised.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7975" y="3348930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High Disengagement: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Students stall and lose momentum when blocked.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3656558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Poor Scalability: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Response quality drops as enrolment grows.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7975" y="3964185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Lack of Structure: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Learning content stays trapped in unstructured files.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5825" y="2612677"/>
            <a:ext cx="1905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612677"/>
            <a:ext cx="17145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065115"/>
            <a:ext cx="7620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372742"/>
            <a:ext cx="762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680370"/>
            <a:ext cx="762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987998"/>
            <a:ext cx="762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065115"/>
            <a:ext cx="952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372742"/>
            <a:ext cx="952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680370"/>
            <a:ext cx="9525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987998"/>
            <a:ext cx="952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347763"/>
            <a:ext cx="11125200" cy="2750939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31845"/>
              </p:ext>
            </p:extLst>
          </p:nvPr>
        </p:nvGraphicFramePr>
        <p:xfrm>
          <a:off x="533400" y="2347763"/>
          <a:ext cx="11106148" cy="275093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0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2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975" b="1" u="none" dirty="0">
                          <a:solidFill>
                            <a:schemeClr val="tx1"/>
                          </a:solidFill>
                        </a:rPr>
                        <a:t>Approach</a:t>
                      </a:r>
                      <a:endParaRPr sz="975" b="1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u="none">
                          <a:solidFill>
                            <a:schemeClr val="tx1"/>
                          </a:solidFill>
                        </a:rPr>
                        <a:t>Technique Used</a:t>
                      </a:r>
                      <a:endParaRPr sz="975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u="none">
                          <a:solidFill>
                            <a:schemeClr val="tx1"/>
                          </a:solidFill>
                        </a:rPr>
                        <a:t>Limitation</a:t>
                      </a:r>
                      <a:endParaRPr sz="975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Rule-based FAQ Chatbots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Keyword &amp; intent matching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Fails on paraphrased or novel doubts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Forum-based Q&amp;A Platforms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Manual moderation &amp; tagging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Slow response, inconsistent quality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Keyword Search over Course Notes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Inverted index / exact match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Misses semantically similar content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Single-Database LMS Backends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Monolithic relational schema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Struggles with unstructured content &amp; scale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94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Retrieval-Augmented Generation (RAG)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Vector embeddings + LLM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 dirty="0">
                          <a:solidFill>
                            <a:schemeClr val="tx1"/>
                          </a:solidFill>
                        </a:rPr>
                        <a:t>High compute cost without optimized indexing</a:t>
                      </a:r>
                      <a:endParaRPr sz="1012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9100"/>
            <a:ext cx="141446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2615326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Literature Survey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925" y="2776388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2539" y="2776388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06406" y="2776388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25" y="3238946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2539" y="3238946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06406" y="3238946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925" y="3701504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2539" y="3701504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06406" y="3701504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2925" y="4164062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2539" y="4164062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06406" y="4164062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925" y="4626619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2539" y="4626619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06406" y="4626619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23045"/>
            <a:ext cx="35940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2223045"/>
            <a:ext cx="35940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223045"/>
            <a:ext cx="3594199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08970"/>
            <a:ext cx="3594050" cy="1314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8900" y="3908970"/>
            <a:ext cx="3594050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3908970"/>
            <a:ext cx="3594199" cy="1314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19100"/>
            <a:ext cx="223837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695325"/>
            <a:ext cx="2725340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Proposed System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3425" y="2975520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575" y="2918370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Course content is structured into PostgreSQL and flexible course assets into MongoDB.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925" y="2975520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6075" y="2918370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Student submits a doubt through the UI; FastAPI handles the request asynchronously.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4424" y="2975520"/>
            <a:ext cx="3194151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575" y="2918370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pgvector performs similarity search over embedded course material to find relevant context.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425" y="4561433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575" y="4604295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The retrieved context powers an instant, context-aware answer for the student.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925" y="4561433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6075" y="4604295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Spring Boot manages secure enterprise logic, sessions, and cross-service coordination.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4424" y="4561433"/>
            <a:ext cx="3194151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575" y="4604295"/>
            <a:ext cx="3079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The full distributed stack is containerized with Docker for cohesive, scalable delivery.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2442120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5875" y="2527845"/>
            <a:ext cx="1295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1. Data Ingestion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6075" y="2442120"/>
            <a:ext cx="381000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51375" y="2527845"/>
            <a:ext cx="13430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2. Doubt Capture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1575" y="2442120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16875" y="2527845"/>
            <a:ext cx="1495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3. Semantic Search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575" y="4128045"/>
            <a:ext cx="381000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5875" y="4213770"/>
            <a:ext cx="1495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4. AI Response Gen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6075" y="4128045"/>
            <a:ext cx="3810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51375" y="4213770"/>
            <a:ext cx="1885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5. Service Orchestration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21575" y="4128045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16875" y="4213770"/>
            <a:ext cx="1971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6. Deployment &amp; Delivery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4875" y="2546895"/>
            <a:ext cx="15240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60850" y="2546895"/>
            <a:ext cx="17145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26350" y="2546895"/>
            <a:ext cx="171450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1537" y="4232820"/>
            <a:ext cx="219075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60850" y="4232820"/>
            <a:ext cx="171450" cy="1714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26350" y="423282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B697E-2A91-5826-9397-628DA4702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44613"/>
            <a:ext cx="5467350" cy="237633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44613"/>
            <a:ext cx="5467350" cy="237633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5225" y="6315075"/>
            <a:ext cx="3333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100"/>
            <a:ext cx="126206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3625453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Software 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968626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4978151"/>
            <a:ext cx="9829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Design Note:</a:t>
            </a:r>
            <a:r>
              <a:rPr sz="1050" b="0" i="0" u="none">
                <a:solidFill>
                  <a:srgbClr val="CBD5E1"/>
                </a:solidFill>
                <a:latin typeface="Plus Jakarta Sans Medium"/>
              </a:rPr>
              <a:t> The stack is lightweight and standard, enabling easy setup, execution, and testing across academic environments without specialized hardware.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3425" y="3328020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91275" y="3328020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63688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5875" y="2449413"/>
            <a:ext cx="2781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Programming Languages &amp;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2878038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FastAPI (Python)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— rapid, asynchronous REST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185666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Spring Boot (Java)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— secure enterprise service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493293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Node.js / Express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— supporting backend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3800921"/>
            <a:ext cx="47339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Data Formats: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JSON for API payloads, SQL schemas for PostgreSQL, BSON documents for MongoDB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363688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3725" y="2449413"/>
            <a:ext cx="2676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Development Environment &amp;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2878038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IDE: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Visual Studio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3185666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Operating System: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Windows 10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3493293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Version Control: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Git &amp; GitHub for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3800921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Deployment: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Docker Desktop for containerization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4108549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Databases &amp; API Testing: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PostgreSQL, MongoDB, pgvector, Postman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2468463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2468463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2901850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3209478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3517106"/>
            <a:ext cx="10477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3824733"/>
            <a:ext cx="10477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2901850"/>
            <a:ext cx="1047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3209478"/>
            <a:ext cx="10477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3517106"/>
            <a:ext cx="10477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3824733"/>
            <a:ext cx="10477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4132361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347763"/>
            <a:ext cx="11125200" cy="2750939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856267"/>
              </p:ext>
            </p:extLst>
          </p:nvPr>
        </p:nvGraphicFramePr>
        <p:xfrm>
          <a:off x="533400" y="2347763"/>
          <a:ext cx="11106148" cy="2750939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22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975" b="1" u="none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sz="975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u="none">
                          <a:solidFill>
                            <a:schemeClr val="tx1"/>
                          </a:solidFill>
                        </a:rPr>
                        <a:t>Minimum Requirement</a:t>
                      </a:r>
                      <a:endParaRPr sz="975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u="none">
                          <a:solidFill>
                            <a:schemeClr val="tx1"/>
                          </a:solidFill>
                        </a:rPr>
                        <a:t>Purpose</a:t>
                      </a:r>
                      <a:endParaRPr sz="975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Processor</a:t>
                      </a:r>
                      <a:endParaRPr sz="1012" b="1" i="0" u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 dirty="0">
                          <a:solidFill>
                            <a:schemeClr val="tx1"/>
                          </a:solidFill>
                        </a:rPr>
                        <a:t>Intel i5 / AMD Ryzen 5 (or equivalent)</a:t>
                      </a:r>
                      <a:endParaRPr sz="1012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Runs containerized microservices smoothly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 dirty="0">
                          <a:solidFill>
                            <a:schemeClr val="tx1"/>
                          </a:solidFill>
                        </a:rPr>
                        <a:t>RAM</a:t>
                      </a:r>
                      <a:endParaRPr sz="1012" b="1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8 GB (16 GB recommended)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Supports multiple concurrent Docker containers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Storage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20 GB free SSD space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Databases, embeddings index, and container images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Network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Stable broadband connection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Client-server API communication and testing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94">
                <a:tc>
                  <a:txBody>
                    <a:bodyPr/>
                    <a:lstStyle/>
                    <a:p>
                      <a:pPr algn="l"/>
                      <a:r>
                        <a:rPr sz="1012" b="1" u="none">
                          <a:solidFill>
                            <a:schemeClr val="tx1"/>
                          </a:solidFill>
                        </a:rPr>
                        <a:t>GPU (Optional)</a:t>
                      </a:r>
                      <a:endParaRPr sz="1012" b="1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>
                          <a:solidFill>
                            <a:schemeClr val="tx1"/>
                          </a:solidFill>
                        </a:rPr>
                        <a:t>Entry-level dedicated GPU</a:t>
                      </a:r>
                      <a:endParaRPr sz="1012" b="0" i="0" u="none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u="none" dirty="0">
                          <a:solidFill>
                            <a:schemeClr val="tx1"/>
                          </a:solidFill>
                        </a:rPr>
                        <a:t>Accelerates embedding generation for </a:t>
                      </a:r>
                      <a:r>
                        <a:rPr sz="1012" b="0" u="none" dirty="0" err="1">
                          <a:solidFill>
                            <a:schemeClr val="tx1"/>
                          </a:solidFill>
                        </a:rPr>
                        <a:t>pgvector</a:t>
                      </a:r>
                      <a:endParaRPr sz="1012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9100"/>
            <a:ext cx="14763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3695461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Hardware 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925" y="2776388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64035" y="2776388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7902" y="2776388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25" y="3238946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4035" y="3238946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7902" y="3238946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925" y="3701504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4035" y="3701504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17902" y="3701504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2925" y="4164062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4035" y="4164062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17902" y="4164062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925" y="4626619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64035" y="4626619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17902" y="4626619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96604"/>
            <a:ext cx="1958280" cy="13960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055" y="2596604"/>
            <a:ext cx="1958280" cy="13960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710" y="2596604"/>
            <a:ext cx="1958280" cy="13960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366" y="2596604"/>
            <a:ext cx="1958280" cy="139600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0021" y="2596604"/>
            <a:ext cx="1958280" cy="139600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1090" y="2796629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2745" y="2796629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401" y="2796629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056" y="2796629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7712" y="2796629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9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19100"/>
            <a:ext cx="2257425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695325"/>
            <a:ext cx="3300412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System Methodology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4630787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5375" y="4554587"/>
            <a:ext cx="10325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 Black"/>
              </a:rPr>
              <a:t>Process Summary:</a:t>
            </a:r>
            <a:r>
              <a:rPr sz="1050" b="0" i="0" u="none">
                <a:solidFill>
                  <a:srgbClr val="E2E8F0"/>
                </a:solidFill>
                <a:latin typeface="Plus Jakarta Sans SemiBold"/>
              </a:rPr>
              <a:t> The pipeline ingests structured and unstructured course content, indexes it for semantic retrieval, generates a context-aware AI response, and delivers it instantly through the containerized microservice stack.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Structured &amp; Unstructured Ingestion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05980" y="3208883"/>
            <a:ext cx="104775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86980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Vector Semantic Search (pgvector)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97635" y="3208883"/>
            <a:ext cx="1047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78635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Context-Aware AI Response Gen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89291" y="3208883"/>
            <a:ext cx="104775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70291" y="3272879"/>
            <a:ext cx="163443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Microservice Orchestration (FastAPI + Spring)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80946" y="3208883"/>
            <a:ext cx="10477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61946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Instant Delivery to Student (Docker)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80967"/>
            <a:ext cx="11125200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060823"/>
            <a:ext cx="5467350" cy="26677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060823"/>
            <a:ext cx="5467350" cy="266774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68075" y="6315075"/>
            <a:ext cx="3905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9100"/>
            <a:ext cx="11334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95325"/>
            <a:ext cx="5115639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Expected Outcome &amp; Conclusion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76250"/>
            <a:ext cx="109537" cy="1047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3425" y="3389932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91275" y="3389932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279898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5875" y="2365623"/>
            <a:ext cx="22002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Expected Project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2813298"/>
            <a:ext cx="47339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Faster Doubt Resolution: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Instant, AI-generated answers instead of hours-long waits.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314253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Improved Learning Continuity: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Students stay unblocked and engaged.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621881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Scalable Support: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Microservices scale gracefully with cohort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929508"/>
            <a:ext cx="47339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Practical Distributed Systems Application: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Real-world use of polyglot backends and vector search.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279898"/>
            <a:ext cx="38100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3725" y="2365623"/>
            <a:ext cx="10382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6550" y="2813298"/>
            <a:ext cx="47148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Fine-Tuned Domain LLM: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A model tuned specifically on institutional course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3314253"/>
            <a:ext cx="471487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Multi-Language Support: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Doubt resolution across regional languages.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3621881"/>
            <a:ext cx="47148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Learning Analytics Dashboard: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Surface common doubt patterns to instructors.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4122836"/>
            <a:ext cx="47148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LMS Integration: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Seamlessly plug into existing learning management systems.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2384673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384673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837110"/>
            <a:ext cx="10477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338066"/>
            <a:ext cx="104775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645693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953321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837110"/>
            <a:ext cx="12382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338066"/>
            <a:ext cx="12382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645693"/>
            <a:ext cx="12382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4146649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995</Words>
  <Application>Microsoft Office PowerPoint</Application>
  <PresentationFormat>Widescreen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Plus Jakarta Sans</vt:lpstr>
      <vt:lpstr>Plus Jakarta Sans Black</vt:lpstr>
      <vt:lpstr>Plus Jakarta Sans ExtraBold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 atikem</cp:lastModifiedBy>
  <cp:revision>2</cp:revision>
  <dcterms:created xsi:type="dcterms:W3CDTF">2013-01-27T09:14:16Z</dcterms:created>
  <dcterms:modified xsi:type="dcterms:W3CDTF">2026-09-24T06:43:45Z</dcterms:modified>
  <cp:category/>
</cp:coreProperties>
</file>